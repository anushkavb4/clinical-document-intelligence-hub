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9D4DA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02336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4C5C"/>
                </a:solidFill>
                <a:latin typeface="Calibri"/>
              </a:rPr>
              <a:t>PROBLEM UNDERSTANDING AND OBJECTIVE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b="0" i="1">
                <a:solidFill>
                  <a:srgbClr val="5A6B78"/>
                </a:solidFill>
                <a:latin typeface="Calibri"/>
              </a:rPr>
              <a:t>Clinical Document Intelligence Hub  ·  2-day prototype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C9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00200"/>
            <a:ext cx="5943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50" b="1" i="0">
                <a:solidFill>
                  <a:srgbClr val="16232E"/>
                </a:solidFill>
                <a:latin typeface="Calibri"/>
              </a:rPr>
              <a:t>Clinical and administrative staff read the same documents twice.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5A6B78"/>
                </a:solidFill>
                <a:latin typeface="Calibri"/>
              </a:rPr>
              <a:t>Intake forms, discharge summaries, lab reports and physician notes arrive as text, PDF, scans and faxes. Someone reads each one for the same handful of facts, then re-keys them elsewhere. Slow, inconsistent between readers, and the errors it produces are silent.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6232E"/>
                </a:solidFill>
                <a:latin typeface="Calibri"/>
              </a:rPr>
              <a:t>The hard part is not reading the document. </a:t>
            </a:r>
            <a:r>
              <a:rPr sz="1350" b="0" i="0">
                <a:solidFill>
                  <a:srgbClr val="5A6B78"/>
                </a:solidFill>
                <a:latin typeface="Calibri"/>
              </a:rPr>
              <a:t>It is whether a clinician can </a:t>
            </a:r>
            <a:r>
              <a:rPr sz="1350" b="1" i="1">
                <a:solidFill>
                  <a:srgbClr val="16232E"/>
                </a:solidFill>
                <a:latin typeface="Calibri"/>
              </a:rPr>
              <a:t>check</a:t>
            </a:r>
            <a:r>
              <a:rPr sz="1350" b="0" i="0">
                <a:solidFill>
                  <a:srgbClr val="5A6B78"/>
                </a:solidFill>
                <a:latin typeface="Calibri"/>
              </a:rPr>
              <a:t> what was read — quickly, per field, without re-reading the chart.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600200"/>
            <a:ext cx="4800600" cy="2194560"/>
          </a:xfrm>
          <a:prstGeom prst="roundRect">
            <a:avLst>
              <a:gd name="adj" fmla="val 4500"/>
            </a:avLst>
          </a:prstGeom>
          <a:solidFill>
            <a:srgbClr val="E3EEF0"/>
          </a:solidFill>
          <a:ln w="9525">
            <a:solidFill>
              <a:srgbClr val="0F4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1783080"/>
            <a:ext cx="4251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F4C5C"/>
                </a:solidFill>
                <a:latin typeface="Calibri"/>
              </a:rPr>
              <a:t>OBJECTIVE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16232E"/>
                </a:solidFill>
                <a:latin typeface="Calibri"/>
              </a:rPr>
              <a:t>Ingest one unstructured clinical document and return a decision-ready patient summary card: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F4C5C"/>
                </a:solidFill>
                <a:latin typeface="Calibri"/>
              </a:rPr>
              <a:t>—   </a:t>
            </a:r>
            <a:r>
              <a:rPr sz="1250" b="0" i="0">
                <a:solidFill>
                  <a:srgbClr val="16232E"/>
                </a:solidFill>
                <a:latin typeface="Calibri"/>
              </a:rPr>
              <a:t>structured fields, each with a confidence and its source quote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F4C5C"/>
                </a:solidFill>
                <a:latin typeface="Calibri"/>
              </a:rPr>
              <a:t>—   </a:t>
            </a:r>
            <a:r>
              <a:rPr sz="1250" b="0" i="0">
                <a:solidFill>
                  <a:srgbClr val="16232E"/>
                </a:solidFill>
                <a:latin typeface="Calibri"/>
              </a:rPr>
              <a:t>a risk flag a clinician can defend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F4C5C"/>
                </a:solidFill>
                <a:latin typeface="Calibri"/>
              </a:rPr>
              <a:t>—   </a:t>
            </a:r>
            <a:r>
              <a:rPr sz="1250" b="0" i="0">
                <a:solidFill>
                  <a:srgbClr val="16232E"/>
                </a:solidFill>
                <a:latin typeface="Calibri"/>
              </a:rPr>
              <a:t>concrete recommended 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977639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F4C5C"/>
                </a:solidFill>
                <a:latin typeface="Calibri"/>
              </a:rPr>
              <a:t>THREE CONSTRAINTS THAT SHAPED EVERY DECISION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251959"/>
            <a:ext cx="3593592" cy="181051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C9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4251959"/>
            <a:ext cx="50292" cy="1810512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434839"/>
            <a:ext cx="3136392" cy="1517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6232E"/>
                </a:solidFill>
                <a:latin typeface="Calibri"/>
              </a:rPr>
              <a:t>Absent data must stay absent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A6B78"/>
                </a:solidFill>
                <a:latin typeface="Calibri"/>
              </a:rPr>
              <a:t>Silent imputation is the failure mode that actually hurts someone. Missing fields become the literal string “not documented”; if three or more NEWS2 parameters are missing the band is INDETERMINATE, not a score built on partial vitals.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9684" y="4251959"/>
            <a:ext cx="3593592" cy="181051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C9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9684" y="4251959"/>
            <a:ext cx="50292" cy="1810512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7428" y="4434839"/>
            <a:ext cx="3136392" cy="1517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6232E"/>
                </a:solidFill>
                <a:latin typeface="Calibri"/>
              </a:rPr>
              <a:t>The risk score must not be generated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A6B78"/>
                </a:solidFill>
                <a:latin typeface="Calibri"/>
              </a:rPr>
              <a:t>A prose rationale from a model cannot be tested, audited, or held still while a prompt is edited. NEWS2 is ordinary Python, covered by 18 tests.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4251959"/>
            <a:ext cx="3593592" cy="181051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C9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4251959"/>
            <a:ext cx="50292" cy="1810512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4" y="4434839"/>
            <a:ext cx="3136392" cy="1517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6232E"/>
                </a:solidFill>
                <a:latin typeface="Calibri"/>
              </a:rPr>
              <a:t>Every value must be traceable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A6B78"/>
                </a:solidFill>
                <a:latin typeface="Calibri"/>
              </a:rPr>
              <a:t>Each field carries a verbatim source quote, expandable in the UI. Verifying a dose should take a click, not a re-read.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A6B78"/>
                </a:solidFill>
                <a:latin typeface="Calibri"/>
              </a:rPr>
              <a:t>Synthetic data only — no real PHI.  Decision support, not a medical device.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9D4DA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02336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4C5C"/>
                </a:solidFill>
                <a:latin typeface="Calibri"/>
              </a:rPr>
              <a:t>SOLUTION ARCHITECTURE AND DESIGN FLOW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b="0" i="1">
                <a:solidFill>
                  <a:srgbClr val="5A6B78"/>
                </a:solidFill>
                <a:latin typeface="Calibri"/>
              </a:rPr>
              <a:t>One model call, one schema, one deterministic scorer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C9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91640"/>
            <a:ext cx="2084831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C9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37944"/>
            <a:ext cx="1792223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8"/>
                </a:solidFill>
                <a:latin typeface="Calibri"/>
              </a:rPr>
              <a:t>INPUT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6232E"/>
                </a:solidFill>
                <a:latin typeface="Calibri"/>
              </a:rPr>
              <a:t>Text · PDF
Image · Scan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B78"/>
                </a:solidFill>
                <a:latin typeface="Calibri"/>
              </a:rPr>
              <a:t>single document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52343" y="2258568"/>
            <a:ext cx="182880" cy="237744"/>
          </a:xfrm>
          <a:prstGeom prst="rightArrow">
            <a:avLst/>
          </a:prstGeom>
          <a:solidFill>
            <a:srgbClr val="C9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35807" y="1691640"/>
            <a:ext cx="2084831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C9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82111" y="1837944"/>
            <a:ext cx="1792223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4C5C"/>
                </a:solidFill>
                <a:latin typeface="Calibri"/>
              </a:rPr>
              <a:t>INGEST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6232E"/>
                </a:solidFill>
                <a:latin typeface="Calibri"/>
              </a:rPr>
              <a:t>bytes + MIME type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B78"/>
                </a:solidFill>
                <a:latin typeface="Calibri"/>
              </a:rPr>
              <a:t>src/ingest.py
no OCR stage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221222" y="2258568"/>
            <a:ext cx="182880" cy="237744"/>
          </a:xfrm>
          <a:prstGeom prst="rightArrow">
            <a:avLst/>
          </a:prstGeom>
          <a:solidFill>
            <a:srgbClr val="C9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04686" y="1691640"/>
            <a:ext cx="2084831" cy="1371600"/>
          </a:xfrm>
          <a:prstGeom prst="roundRect">
            <a:avLst>
              <a:gd name="adj" fmla="val 4500"/>
            </a:avLst>
          </a:prstGeom>
          <a:solidFill>
            <a:srgbClr val="E3EEF0"/>
          </a:solidFill>
          <a:ln w="19050">
            <a:solidFill>
              <a:srgbClr val="0F4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50990" y="1837944"/>
            <a:ext cx="1792223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4C5C"/>
                </a:solidFill>
                <a:latin typeface="Calibri"/>
              </a:rPr>
              <a:t>EXTRACT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6232E"/>
                </a:solidFill>
                <a:latin typeface="Calibri"/>
              </a:rPr>
              <a:t>Gemini 3.6 Flash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B78"/>
                </a:solidFill>
                <a:latin typeface="Calibri"/>
              </a:rPr>
              <a:t>one call
schema-enforced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690101" y="2258568"/>
            <a:ext cx="182880" cy="237744"/>
          </a:xfrm>
          <a:prstGeom prst="rightArrow">
            <a:avLst/>
          </a:prstGeom>
          <a:solidFill>
            <a:srgbClr val="C9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73565" y="1691640"/>
            <a:ext cx="2084831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C9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69" y="1837944"/>
            <a:ext cx="1792223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4C5C"/>
                </a:solidFill>
                <a:latin typeface="Calibri"/>
              </a:rPr>
              <a:t>VALIDATE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6232E"/>
                </a:solidFill>
                <a:latin typeface="Calibri"/>
              </a:rPr>
              <a:t>ClinicalExtraction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B78"/>
                </a:solidFill>
                <a:latin typeface="Calibri"/>
              </a:rPr>
              <a:t>Pydantic
typed or rejected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4015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A6B78"/>
                </a:solidFill>
                <a:latin typeface="Calibri"/>
              </a:rPr>
              <a:t>the typed record forks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730752"/>
            <a:ext cx="5394960" cy="14813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B33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877056"/>
            <a:ext cx="48463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33A30"/>
                </a:solidFill>
                <a:latin typeface="Calibri"/>
              </a:rPr>
              <a:t>DETERMINISTIC  </a:t>
            </a:r>
            <a:r>
              <a:rPr sz="1000" b="0" i="0">
                <a:solidFill>
                  <a:srgbClr val="5A6B78"/>
                </a:solidFill>
                <a:latin typeface="Consolas"/>
              </a:rPr>
              <a:t>src/triage.py · src/compare.py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6232E"/>
                </a:solidFill>
                <a:latin typeface="Calibri"/>
              </a:rPr>
              <a:t>NEWS2 risk score — plain Python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A6B78"/>
                </a:solidFill>
                <a:latin typeface="Calibri"/>
              </a:rPr>
              <a:t>RCP scoring from the extracted vitals; every point attributable to a reading. A second document for the same patient is diffed by the same scorers, so “improved” always means fewer NEWS2 points. 46 tests. The model never sees this step.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730752"/>
            <a:ext cx="5394960" cy="14813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C9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3895344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4C5C"/>
                </a:solidFill>
                <a:latin typeface="Calibri"/>
              </a:rPr>
              <a:t>GENERATIVE  </a:t>
            </a:r>
            <a:r>
              <a:rPr sz="1000" b="0" i="0">
                <a:solidFill>
                  <a:srgbClr val="5A6B78"/>
                </a:solidFill>
                <a:latin typeface="Consolas"/>
              </a:rPr>
              <a:t>summary · reasoning · next steps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6232E"/>
                </a:solidFill>
                <a:latin typeface="Calibri"/>
              </a:rPr>
              <a:t>Narrative, grounded in quotes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6B78"/>
                </a:solidFill>
                <a:latin typeface="Calibri"/>
              </a:rPr>
              <a:t>Prose a clinician reads in under 20 seconds, plus recommended actions ordered most urgent first and an explicit list of what is missing from the document.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376672"/>
            <a:ext cx="11064240" cy="658368"/>
          </a:xfrm>
          <a:prstGeom prst="roundRect">
            <a:avLst>
              <a:gd name="adj" fmla="val 4500"/>
            </a:avLst>
          </a:prstGeom>
          <a:solidFill>
            <a:srgbClr val="16232E"/>
          </a:solidFill>
          <a:ln w="9525">
            <a:solidFill>
              <a:srgbClr val="162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522976"/>
            <a:ext cx="104241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model extracts; Python decides.  </a:t>
            </a:r>
            <a:r>
              <a:rPr sz="1250" b="0" i="0">
                <a:solidFill>
                  <a:srgbClr val="A9BDC7"/>
                </a:solidFill>
                <a:latin typeface="Calibri"/>
              </a:rPr>
              <a:t>The risk band cannot drift when a prompt is edited, a clinician can be shown which reading contributed which point, and the whole scoring layer is testable without an API key.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A6B78"/>
                </a:solidFill>
                <a:latin typeface="Calibri"/>
              </a:rPr>
              <a:t>Streamlit renders the summary card, extracted-detail tables, NEWS2 breakdown, source text and a JSON export.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9D4DA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02336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4C5C"/>
                </a:solidFill>
                <a:latin typeface="Calibri"/>
              </a:rPr>
              <a:t>IMPLEMENTATION HIGHLIGHTS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b="0" i="1">
                <a:solidFill>
                  <a:srgbClr val="5A6B78"/>
                </a:solidFill>
                <a:latin typeface="Calibri"/>
              </a:rPr>
              <a:t>The card a reviewer sees, and the call that produces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C9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36192"/>
            <a:ext cx="5715000" cy="2681699"/>
          </a:xfrm>
          <a:prstGeom prst="roundRect">
            <a:avLst>
              <a:gd name="adj" fmla="val 4500"/>
            </a:avLst>
          </a:prstGeom>
          <a:solidFill>
            <a:srgbClr val="1B2B36"/>
          </a:solidFill>
          <a:ln w="9525">
            <a:solidFill>
              <a:srgbClr val="1B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_summary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36192"/>
            <a:ext cx="5715000" cy="26816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4327619"/>
            <a:ext cx="5715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6232E"/>
                </a:solidFill>
                <a:latin typeface="Calibri"/>
              </a:rPr>
              <a:t>Risk band, then the fields it rests on. </a:t>
            </a:r>
            <a:r>
              <a:rPr sz="1100" b="0" i="0">
                <a:solidFill>
                  <a:srgbClr val="5A6B78"/>
                </a:solidFill>
                <a:latin typeface="Calibri"/>
              </a:rPr>
              <a:t>Each value carries a confidence marker and an expandable </a:t>
            </a:r>
            <a:r>
              <a:rPr sz="1100" b="0" i="0">
                <a:solidFill>
                  <a:srgbClr val="16232E"/>
                </a:solidFill>
                <a:latin typeface="Consolas"/>
              </a:rPr>
              <a:t>source</a:t>
            </a:r>
            <a:r>
              <a:rPr sz="1100" b="0" i="0">
                <a:solidFill>
                  <a:srgbClr val="5A6B78"/>
                </a:solidFill>
                <a:latin typeface="Calibri"/>
              </a:rPr>
              <a:t> holding the verbatim quote it came from.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01968" y="1536192"/>
            <a:ext cx="5029200" cy="2681699"/>
          </a:xfrm>
          <a:prstGeom prst="roundRect">
            <a:avLst>
              <a:gd name="adj" fmla="val 4500"/>
            </a:avLst>
          </a:prstGeom>
          <a:solidFill>
            <a:srgbClr val="1B2B36"/>
          </a:solidFill>
          <a:ln w="9525">
            <a:solidFill>
              <a:srgbClr val="1B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136" y="1664208"/>
            <a:ext cx="4626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7F9DA8"/>
                </a:solidFill>
                <a:latin typeface="Calibri"/>
              </a:rPr>
              <a:t>ONE CALL — THE API ENFORCES THE SCHEMA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3136" y="1920240"/>
            <a:ext cx="4626864" cy="21879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E4EDF2"/>
                </a:solidFill>
                <a:latin typeface="Consolas"/>
              </a:rPr>
              <a:t>interaction = client.interactions.create(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E4EDF2"/>
                </a:solidFill>
                <a:latin typeface="Consolas"/>
              </a:rPr>
              <a:t>    model=model,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E4EDF2"/>
                </a:solidFill>
                <a:latin typeface="Consolas"/>
              </a:rPr>
              <a:t>    system_instruction=SYSTEM_PROMPT,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E4EDF2"/>
                </a:solidFill>
                <a:latin typeface="Consolas"/>
              </a:rPr>
              <a:t>    input=_input_blocks(document),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E4EDF2"/>
                </a:solidFill>
                <a:latin typeface="Consolas"/>
              </a:rPr>
              <a:t>    response_format={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B8E0A0"/>
                </a:solidFill>
                <a:latin typeface="Consolas"/>
              </a:rPr>
              <a:t>        "type": "text",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B8E0A0"/>
                </a:solidFill>
                <a:latin typeface="Consolas"/>
              </a:rPr>
              <a:t>        "mime_type": "application/json",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B8E0A0"/>
                </a:solidFill>
                <a:latin typeface="Consolas"/>
              </a:rPr>
              <a:t>        "schema": response_schema(),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E4EDF2"/>
                </a:solidFill>
                <a:latin typeface="Consolas"/>
              </a:rPr>
              <a:t>    },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6B8794"/>
                </a:solidFill>
                <a:latin typeface="Consolas"/>
              </a:rPr>
              <a:t>    store=False,  # nothing retained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E4EDF2"/>
                </a:solidFill>
                <a:latin typeface="Consolas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4327619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A6B78"/>
                </a:solidFill>
                <a:latin typeface="Calibri"/>
              </a:rPr>
              <a:t>No JSON parsing, no repair loop, no prose-to-struct step that can drift. response_schema() inlines the $defs/$ref Gemini does not document.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82896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F4C5C"/>
                </a:solidFill>
                <a:latin typeface="Calibri"/>
              </a:rPr>
              <a:t>MEASURED ON THE SIX BUNDLED SAMPLES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175504"/>
            <a:ext cx="2121408" cy="10241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C9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303520"/>
            <a:ext cx="17922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0F4C5C"/>
                </a:solidFill>
                <a:latin typeface="Calibri"/>
              </a:rPr>
              <a:t>95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8"/>
                </a:solidFill>
                <a:latin typeface="Calibri"/>
              </a:rPr>
              <a:t>source quotes audited
against their documents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20924" y="5175504"/>
            <a:ext cx="2121408" cy="10241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C9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85516" y="5303520"/>
            <a:ext cx="17922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1B5E20"/>
                </a:solidFill>
                <a:latin typeface="Calibri"/>
              </a:rPr>
              <a:t>0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8"/>
                </a:solidFill>
                <a:latin typeface="Calibri"/>
              </a:rPr>
              <a:t>containing content
absent from the source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5175504"/>
            <a:ext cx="2121408" cy="10241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C9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9512" y="5303520"/>
            <a:ext cx="17922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0F4C5C"/>
                </a:solidFill>
                <a:latin typeface="Calibri"/>
              </a:rPr>
              <a:t>59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8"/>
                </a:solidFill>
                <a:latin typeface="Calibri"/>
              </a:rPr>
              <a:t>tests — scoring, diffing
and failure handling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28916" y="5175504"/>
            <a:ext cx="2121408" cy="10241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C9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3508" y="5303520"/>
            <a:ext cx="17922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5A6B78"/>
                </a:solidFill>
                <a:latin typeface="Calibri"/>
              </a:rPr>
              <a:t>~29 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8"/>
                </a:solidFill>
                <a:latin typeface="Calibri"/>
              </a:rPr>
              <a:t>per document,
end to end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82912" y="5175504"/>
            <a:ext cx="2121408" cy="10241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C9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47504" y="5303520"/>
            <a:ext cx="17922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5A6B78"/>
                </a:solidFill>
                <a:latin typeface="Calibri"/>
              </a:rPr>
              <a:t>$0.00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8"/>
                </a:solidFill>
                <a:latin typeface="Calibri"/>
              </a:rPr>
              <a:t>free tier —
reproducible by anyone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A6B78"/>
                </a:solidFill>
                <a:latin typeface="Calibri"/>
              </a:rPr>
              <a:t>Model: gemini-3.6-flash  ·  extract.py is the only module aware of the provider.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9D4DA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02336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4C5C"/>
                </a:solidFill>
                <a:latin typeface="Calibri"/>
              </a:rPr>
              <a:t>CHALLENGES AND LEARNINGS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b="0" i="1">
                <a:solidFill>
                  <a:srgbClr val="5A6B78"/>
                </a:solidFill>
                <a:latin typeface="Calibri"/>
              </a:rPr>
              <a:t>The confidence score was decoration — measuring it is what proved that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C9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36192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6B78"/>
                </a:solidFill>
                <a:latin typeface="Calibri"/>
              </a:rPr>
              <a:t>The prototype reported </a:t>
            </a:r>
            <a:r>
              <a:rPr sz="1350" b="1" i="0">
                <a:solidFill>
                  <a:srgbClr val="16232E"/>
                </a:solidFill>
                <a:latin typeface="Consolas"/>
              </a:rPr>
              <a:t>high</a:t>
            </a:r>
            <a:r>
              <a:rPr sz="1350" b="0" i="0">
                <a:solidFill>
                  <a:srgbClr val="5A6B78"/>
                </a:solidFill>
                <a:latin typeface="Calibri"/>
              </a:rPr>
              <a:t> confidence on almost every field. That looks like success until you ask whether the signal </a:t>
            </a:r>
            <a:r>
              <a:rPr sz="1350" b="1" i="1">
                <a:solidFill>
                  <a:srgbClr val="16232E"/>
                </a:solidFill>
                <a:latin typeface="Calibri"/>
              </a:rPr>
              <a:t>moves</a:t>
            </a:r>
            <a:r>
              <a:rPr sz="1350" b="0" i="0">
                <a:solidFill>
                  <a:srgbClr val="5A6B78"/>
                </a:solidFill>
                <a:latin typeface="Calibri"/>
              </a:rPr>
              <a:t>. So I rendered the same ED triage note at three degradation levels and compared confidence against ground truth.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12848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B33A30"/>
                </a:solidFill>
                <a:latin typeface="Calibri"/>
              </a:rPr>
              <a:t>BEFORE  </a:t>
            </a:r>
            <a:r>
              <a:rPr sz="1100" b="0" i="0">
                <a:solidFill>
                  <a:srgbClr val="5A6B78"/>
                </a:solidFill>
                <a:latin typeface="Calibri"/>
              </a:rPr>
              <a:t>confidence is flat while accuracy collapses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487168"/>
          <a:ext cx="5394959" cy="12070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/>
                <a:gridCol w="1417320"/>
                <a:gridCol w="1874519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Degradation</a:t>
                      </a:r>
                    </a:p>
                  </a:txBody>
                  <a:tcPr marL="82296" marR="82296" anchor="ctr">
                    <a:solidFill>
                      <a:srgbClr val="B33A3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Vitals right</a:t>
                      </a:r>
                    </a:p>
                  </a:txBody>
                  <a:tcPr marL="82296" marR="82296" anchor="ctr">
                    <a:solidFill>
                      <a:srgbClr val="B33A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Confidence</a:t>
                      </a:r>
                    </a:p>
                  </a:txBody>
                  <a:tcPr marL="82296" marR="82296" anchor="ctr">
                    <a:solidFill>
                      <a:srgbClr val="B33A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6232E"/>
                          </a:solidFill>
                          <a:latin typeface="Calibri"/>
                        </a:rPr>
                        <a:t>As shipped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6232E"/>
                          </a:solidFill>
                          <a:latin typeface="Calibri"/>
                        </a:rPr>
                        <a:t>6 / 6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6232E"/>
                          </a:solidFill>
                          <a:latin typeface="Calibri"/>
                        </a:rPr>
                        <a:t>21 high, 1 med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6232E"/>
                          </a:solidFill>
                          <a:latin typeface="Calibri"/>
                        </a:rPr>
                        <a:t>Degraded</a:t>
                      </a:r>
                    </a:p>
                  </a:txBody>
                  <a:tcPr marL="82296" marR="82296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6232E"/>
                          </a:solidFill>
                          <a:latin typeface="Calibri"/>
                        </a:rPr>
                        <a:t>5 / 6</a:t>
                      </a:r>
                    </a:p>
                  </a:txBody>
                  <a:tcPr marL="82296" marR="82296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B33A30"/>
                          </a:solidFill>
                          <a:latin typeface="Calibri"/>
                        </a:rPr>
                        <a:t>23 high, 0 med</a:t>
                      </a:r>
                    </a:p>
                  </a:txBody>
                  <a:tcPr marL="82296" marR="82296" anchor="ctr">
                    <a:solidFill>
                      <a:srgbClr val="F2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6232E"/>
                          </a:solidFill>
                          <a:latin typeface="Calibri"/>
                        </a:rPr>
                        <a:t>Severe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B33A30"/>
                          </a:solidFill>
                          <a:latin typeface="Calibri"/>
                        </a:rPr>
                        <a:t>3 / 6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B33A30"/>
                          </a:solidFill>
                          <a:latin typeface="Calibri"/>
                        </a:rPr>
                        <a:t>20 high, 0 med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36208" y="2212848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5E20"/>
                </a:solidFill>
                <a:latin typeface="Calibri"/>
              </a:rPr>
              <a:t>AFTER  </a:t>
            </a:r>
            <a:r>
              <a:rPr sz="1100" b="0" i="0">
                <a:solidFill>
                  <a:srgbClr val="5A6B78"/>
                </a:solidFill>
                <a:latin typeface="Calibri"/>
              </a:rPr>
              <a:t>the signal tracks legibility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36208" y="2487168"/>
          <a:ext cx="5394959" cy="12070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/>
                <a:gridCol w="1417320"/>
                <a:gridCol w="1874519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Degradation</a:t>
                      </a:r>
                    </a:p>
                  </a:txBody>
                  <a:tcPr marL="82296" marR="82296"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Vitals right</a:t>
                      </a:r>
                    </a:p>
                  </a:txBody>
                  <a:tcPr marL="82296" marR="82296" anchor="ctr"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Confidence</a:t>
                      </a:r>
                    </a:p>
                  </a:txBody>
                  <a:tcPr marL="82296" marR="82296" anchor="ctr">
                    <a:solidFill>
                      <a:srgbClr val="1B5E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6232E"/>
                          </a:solidFill>
                          <a:latin typeface="Calibri"/>
                        </a:rPr>
                        <a:t>As shipped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6232E"/>
                          </a:solidFill>
                          <a:latin typeface="Calibri"/>
                        </a:rPr>
                        <a:t>6 / 6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6232E"/>
                          </a:solidFill>
                          <a:latin typeface="Calibri"/>
                        </a:rPr>
                        <a:t>8 high, 16 med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6232E"/>
                          </a:solidFill>
                          <a:latin typeface="Calibri"/>
                        </a:rPr>
                        <a:t>Degraded</a:t>
                      </a:r>
                    </a:p>
                  </a:txBody>
                  <a:tcPr marL="82296" marR="82296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6232E"/>
                          </a:solidFill>
                          <a:latin typeface="Calibri"/>
                        </a:rPr>
                        <a:t>4 / 6</a:t>
                      </a:r>
                    </a:p>
                  </a:txBody>
                  <a:tcPr marL="82296" marR="82296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6232E"/>
                          </a:solidFill>
                          <a:latin typeface="Calibri"/>
                        </a:rPr>
                        <a:t>6 high, 18 med</a:t>
                      </a:r>
                    </a:p>
                  </a:txBody>
                  <a:tcPr marL="82296" marR="82296" anchor="ctr">
                    <a:solidFill>
                      <a:srgbClr val="F2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6232E"/>
                          </a:solidFill>
                          <a:latin typeface="Calibri"/>
                        </a:rPr>
                        <a:t>Severe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6232E"/>
                          </a:solidFill>
                          <a:latin typeface="Calibri"/>
                        </a:rPr>
                        <a:t>1 / 6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5E20"/>
                          </a:solidFill>
                          <a:latin typeface="Calibri"/>
                        </a:rPr>
                        <a:t>0 high, 17 med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66928" y="3913632"/>
            <a:ext cx="11064240" cy="1024128"/>
          </a:xfrm>
          <a:prstGeom prst="roundRect">
            <a:avLst>
              <a:gd name="adj" fmla="val 4500"/>
            </a:avLst>
          </a:prstGeom>
          <a:solidFill>
            <a:srgbClr val="FAE8E6"/>
          </a:solidFill>
          <a:ln w="9525">
            <a:solidFill>
              <a:srgbClr val="B33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78224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6232E"/>
                </a:solidFill>
                <a:latin typeface="Calibri"/>
              </a:rPr>
              <a:t>At severe degradation the model read temperature as 37.9 °C instead of 38.9, and heart rate as 118 instead of 124 — and labelled both </a:t>
            </a:r>
            <a:r>
              <a:rPr sz="1300" b="1" i="0">
                <a:solidFill>
                  <a:srgbClr val="B33A30"/>
                </a:solidFill>
                <a:latin typeface="Consolas"/>
              </a:rPr>
              <a:t>high</a:t>
            </a:r>
            <a:r>
              <a:rPr sz="1300" b="0" i="0">
                <a:solidFill>
                  <a:srgbClr val="16232E"/>
                </a:solidFill>
                <a:latin typeface="Calibri"/>
              </a:rPr>
              <a:t> confidence.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8"/>
                </a:solidFill>
                <a:latin typeface="Calibri"/>
              </a:rPr>
              <a:t>The fix was conceptual, not mechanical: confidence had been written as a statement of </a:t>
            </a:r>
            <a:r>
              <a:rPr sz="1250" b="1" i="0">
                <a:solidFill>
                  <a:srgbClr val="16232E"/>
                </a:solidFill>
                <a:latin typeface="Calibri"/>
              </a:rPr>
              <a:t>belief</a:t>
            </a:r>
            <a:r>
              <a:rPr sz="1250" b="0" i="0">
                <a:solidFill>
                  <a:srgbClr val="5A6B78"/>
                </a:solidFill>
                <a:latin typeface="Calibri"/>
              </a:rPr>
              <a:t>. It is now a statement about the </a:t>
            </a:r>
            <a:r>
              <a:rPr sz="1250" b="1" i="0">
                <a:solidFill>
                  <a:srgbClr val="16232E"/>
                </a:solidFill>
                <a:latin typeface="Calibri"/>
              </a:rPr>
              <a:t>source</a:t>
            </a:r>
            <a:r>
              <a:rPr sz="1250" b="0" i="0">
                <a:solidFill>
                  <a:srgbClr val="5A6B78"/>
                </a:solidFill>
                <a:latin typeface="Calibri"/>
              </a:rPr>
              <a:t> — any digit that could be a different digit under this much blur is </a:t>
            </a:r>
            <a:r>
              <a:rPr sz="1250" b="1" i="0">
                <a:solidFill>
                  <a:srgbClr val="16232E"/>
                </a:solidFill>
                <a:latin typeface="Consolas"/>
              </a:rPr>
              <a:t>medium</a:t>
            </a:r>
            <a:r>
              <a:rPr sz="1250" b="0" i="0">
                <a:solidFill>
                  <a:srgbClr val="5A6B78"/>
                </a:solidFill>
                <a:latin typeface="Calibri"/>
              </a:rPr>
              <a:t>, however sure the model feels. Clean digital text is unaffected: 105 high / 0 medium.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1023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F4C5C"/>
                </a:solidFill>
                <a:latin typeface="Calibri"/>
              </a:rPr>
              <a:t>ALSO LEARNED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394960"/>
            <a:ext cx="3593592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C9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504688"/>
            <a:ext cx="32278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6232E"/>
                </a:solidFill>
                <a:latin typeface="Calibri"/>
              </a:rPr>
              <a:t>The cheap model was a trap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8"/>
                </a:solidFill>
                <a:latin typeface="Calibri"/>
              </a:rPr>
              <a:t>flash-lite: 4x faster, same NEWS2, but it fabricated 3 of 65 source quotes — one carried the reference range from the row above. Rejected.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9684" y="5394960"/>
            <a:ext cx="3593592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C9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2564" y="5504688"/>
            <a:ext cx="32278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6232E"/>
                </a:solidFill>
                <a:latin typeface="Calibri"/>
              </a:rPr>
              <a:t>A green tick is a claim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8"/>
                </a:solidFill>
                <a:latin typeface="Calibri"/>
              </a:rPr>
              <a:t>Uniform high confidence tells a clinician there is nothing to check. That is worse than showing no confidence at all.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5394960"/>
            <a:ext cx="3593592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C9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5504688"/>
            <a:ext cx="32278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6232E"/>
                </a:solidFill>
                <a:latin typeface="Calibri"/>
              </a:rPr>
              <a:t>One document cannot check itself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8"/>
                </a:solidFill>
                <a:latin typeface="Calibri"/>
              </a:rPr>
              <a:t>Diffing two encounters exposed a triage bug that had survived 18 tests and five samples: “nil allergies, confirmed” was being flagged as a missing allergy history.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A6B78"/>
                </a:solidFill>
                <a:latin typeface="Calibri"/>
              </a:rPr>
              <a:t>Degradation levels generated reproducibly (fixed seed) by scripts/make_scanned_sample.py.  ·  The after-fix ladder reproduced exactly (8 → 6 → 0 high) on a second independent run.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9D4DA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02336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4C5C"/>
                </a:solidFill>
                <a:latin typeface="Calibri"/>
              </a:rPr>
              <a:t>DEMO SUMMARY AND NEXT STEPS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300" b="0" i="1">
                <a:solidFill>
                  <a:srgbClr val="5A6B78"/>
                </a:solidFill>
                <a:latin typeface="Calibri"/>
              </a:rPr>
              <a:t>Six synthetic documents, two modalities, one paired encounter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1057839" cy="9525"/>
          </a:xfrm>
          <a:prstGeom prst="rect">
            <a:avLst/>
          </a:prstGeom>
          <a:solidFill>
            <a:srgbClr val="C9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F4C5C"/>
                </a:solidFill>
                <a:latin typeface="Calibri"/>
              </a:rPr>
              <a:t>END-TO-END RESULTS AGAINST THE LIVE API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737360"/>
          <a:ext cx="11064240" cy="1920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892040"/>
                <a:gridCol w="914400"/>
                <a:gridCol w="2103120"/>
                <a:gridCol w="914400"/>
                <a:gridCol w="224028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Document</a:t>
                      </a:r>
                    </a:p>
                  </a:txBody>
                  <a:tcPr marL="82296" marR="82296" anchor="ctr"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L="82296" marR="82296" anchor="ctr"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Classified as</a:t>
                      </a:r>
                    </a:p>
                  </a:txBody>
                  <a:tcPr marL="82296" marR="82296" anchor="ctr"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NEWS2</a:t>
                      </a:r>
                    </a:p>
                  </a:txBody>
                  <a:tcPr marL="82296" marR="82296" anchor="ctr"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82296" marR="82296" anchor="ctr">
                    <a:solidFill>
                      <a:srgbClr val="0F4C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6232E"/>
                          </a:solidFill>
                          <a:latin typeface="Calibri"/>
                        </a:rPr>
                        <a:t>ED triage note — suspected urosepsis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6232E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6232E"/>
                          </a:solidFill>
                          <a:latin typeface="Calibri"/>
                        </a:rPr>
                        <a:t>triage_note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6232E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B33A30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6232E"/>
                          </a:solidFill>
                          <a:latin typeface="Calibri"/>
                        </a:rPr>
                        <a:t>same note, printed → photocopied → faxed</a:t>
                      </a:r>
                    </a:p>
                  </a:txBody>
                  <a:tcPr marL="82296" marR="82296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6232E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marL="82296" marR="82296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6232E"/>
                          </a:solidFill>
                          <a:latin typeface="Calibri"/>
                        </a:rPr>
                        <a:t>triage_note</a:t>
                      </a:r>
                    </a:p>
                  </a:txBody>
                  <a:tcPr marL="82296" marR="82296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6232E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82296" marR="82296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B33A30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82296" marR="82296" anchor="ctr">
                    <a:solidFill>
                      <a:srgbClr val="F2F5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6232E"/>
                          </a:solidFill>
                          <a:latin typeface="Calibri"/>
                        </a:rPr>
                        <a:t>Discharge summary — resolved sepsis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6232E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6232E"/>
                          </a:solidFill>
                          <a:latin typeface="Calibri"/>
                        </a:rPr>
                        <a:t>discharge_summary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623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5E20"/>
                          </a:solidFill>
                          <a:latin typeface="Calibri"/>
                        </a:rPr>
                        <a:t>ROUTINE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6232E"/>
                          </a:solidFill>
                          <a:latin typeface="Calibri"/>
                        </a:rPr>
                        <a:t>New-patient intake form — headaches</a:t>
                      </a:r>
                    </a:p>
                  </a:txBody>
                  <a:tcPr marL="82296" marR="82296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6232E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82296" marR="82296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6232E"/>
                          </a:solidFill>
                          <a:latin typeface="Calibri"/>
                        </a:rPr>
                        <a:t>intake_form</a:t>
                      </a:r>
                    </a:p>
                  </a:txBody>
                  <a:tcPr marL="82296" marR="82296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623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2296" marR="82296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5E20"/>
                          </a:solidFill>
                          <a:latin typeface="Calibri"/>
                        </a:rPr>
                        <a:t>ROUTINE</a:t>
                      </a:r>
                    </a:p>
                  </a:txBody>
                  <a:tcPr marL="82296" marR="82296" anchor="ctr">
                    <a:solidFill>
                      <a:srgbClr val="F2F5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6232E"/>
                          </a:solidFill>
                          <a:latin typeface="Calibri"/>
                        </a:rPr>
                        <a:t>same patient, 7 days later — discharge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6232E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6232E"/>
                          </a:solidFill>
                          <a:latin typeface="Calibri"/>
                        </a:rPr>
                        <a:t>discharge_summary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6232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5E20"/>
                          </a:solidFill>
                          <a:latin typeface="Calibri"/>
                        </a:rPr>
                        <a:t>ROUTINE</a:t>
                      </a:r>
                    </a:p>
                  </a:txBody>
                  <a:tcPr marL="82296" marR="82296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6232E"/>
                          </a:solidFill>
                          <a:latin typeface="Calibri"/>
                        </a:rPr>
                        <a:t>Lab report — potassium 6.8, no vitals recorded</a:t>
                      </a:r>
                    </a:p>
                  </a:txBody>
                  <a:tcPr marL="82296" marR="82296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6232E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82296" marR="82296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6232E"/>
                          </a:solidFill>
                          <a:latin typeface="Calibri"/>
                        </a:rPr>
                        <a:t>lab_report</a:t>
                      </a:r>
                    </a:p>
                  </a:txBody>
                  <a:tcPr marL="82296" marR="82296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623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4C5C"/>
                          </a:solidFill>
                          <a:latin typeface="Calibri"/>
                        </a:rPr>
                        <a:t>INDETERMINATE</a:t>
                      </a:r>
                    </a:p>
                  </a:txBody>
                  <a:tcPr marL="82296" marR="82296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3730752"/>
            <a:ext cx="5394960" cy="694944"/>
          </a:xfrm>
          <a:prstGeom prst="roundRect">
            <a:avLst>
              <a:gd name="adj" fmla="val 4500"/>
            </a:avLst>
          </a:prstGeom>
          <a:solidFill>
            <a:srgbClr val="E3EEF0"/>
          </a:solidFill>
          <a:ln w="9525">
            <a:solidFill>
              <a:srgbClr val="0F4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83133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6B78"/>
                </a:solidFill>
                <a:latin typeface="Calibri"/>
              </a:rPr>
              <a:t>A degraded fax produced the identical decision — </a:t>
            </a:r>
            <a:r>
              <a:rPr sz="1150" b="1" i="0">
                <a:solidFill>
                  <a:srgbClr val="16232E"/>
                </a:solidFill>
                <a:latin typeface="Calibri"/>
              </a:rPr>
              <a:t>NEWS2 17, HIGH, all 7 parameters, all 7 labs, the same 5 flags.</a:t>
            </a:r>
            <a:r>
              <a:rPr sz="1150" b="0" i="0">
                <a:solidFill>
                  <a:srgbClr val="5A6B78"/>
                </a:solidFill>
                <a:latin typeface="Calibri"/>
              </a:rPr>
              <a:t> No OCR stage.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3730752"/>
            <a:ext cx="5394960" cy="69494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0F4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383133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6B78"/>
                </a:solidFill>
                <a:latin typeface="Calibri"/>
              </a:rPr>
              <a:t>Load the same patient's discharge summary and the app diffs the encounters: </a:t>
            </a:r>
            <a:r>
              <a:rPr sz="1150" b="1" i="0">
                <a:solidFill>
                  <a:srgbClr val="16232E"/>
                </a:solidFill>
                <a:latin typeface="Calibri"/>
              </a:rPr>
              <a:t>NEWS2 17 → 0, HIGH → ROUTINE, lactate critical → normal, five flags resolved.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517136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F4C5C"/>
                </a:solidFill>
                <a:latin typeface="Calibri"/>
              </a:rPr>
              <a:t>GIVEN MORE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791456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F4C5C"/>
                </a:solidFill>
                <a:latin typeface="Calibri"/>
              </a:rPr>
              <a:t>—  </a:t>
            </a:r>
            <a:r>
              <a:rPr sz="1100" b="1" i="0">
                <a:solidFill>
                  <a:srgbClr val="16232E"/>
                </a:solidFill>
                <a:latin typeface="Calibri"/>
              </a:rPr>
              <a:t>Close the audit trail.</a:t>
            </a:r>
            <a:r>
              <a:rPr sz="1100" b="0" i="0">
                <a:solidFill>
                  <a:srgbClr val="5A6B78"/>
                </a:solidFill>
                <a:latin typeface="Calibri"/>
              </a:rPr>
              <a:t> One run produced a vitals quote that skipped a line while reading as continuous. Mark elisions; give each vital its own quote.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F4C5C"/>
                </a:solidFill>
                <a:latin typeface="Calibri"/>
              </a:rPr>
              <a:t>—  </a:t>
            </a:r>
            <a:r>
              <a:rPr sz="1100" b="1" i="0">
                <a:solidFill>
                  <a:srgbClr val="16232E"/>
                </a:solidFill>
                <a:latin typeface="Calibri"/>
              </a:rPr>
              <a:t>Widen the comparison.</a:t>
            </a:r>
            <a:r>
              <a:rPr sz="1100" b="0" i="0">
                <a:solidFill>
                  <a:srgbClr val="5A6B78"/>
                </a:solidFill>
                <a:latin typeface="Calibri"/>
              </a:rPr>
              <a:t> It diffs two documents; a real record is a timeline. Identity matching also needs more than MRN-then-surname.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F4C5C"/>
                </a:solidFill>
                <a:latin typeface="Calibri"/>
              </a:rPr>
              <a:t>—  </a:t>
            </a:r>
            <a:r>
              <a:rPr sz="1100" b="1" i="0">
                <a:solidFill>
                  <a:srgbClr val="16232E"/>
                </a:solidFill>
                <a:latin typeface="Calibri"/>
              </a:rPr>
              <a:t>Pin the non-determinism.</a:t>
            </a:r>
            <a:r>
              <a:rPr sz="1100" b="0" i="0">
                <a:solidFill>
                  <a:srgbClr val="5A6B78"/>
                </a:solidFill>
                <a:latin typeface="Calibri"/>
              </a:rPr>
              <a:t> Values are stable across runs; formatting is not (BD vs twice daily). Normalise in the schema.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517136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F4C5C"/>
                </a:solidFill>
                <a:latin typeface="Calibri"/>
              </a:rPr>
              <a:t>TO TAKE THIS BEYOND A PROTOTYPE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4791456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F4C5C"/>
                </a:solidFill>
                <a:latin typeface="Calibri"/>
              </a:rPr>
              <a:t>—  </a:t>
            </a:r>
            <a:r>
              <a:rPr sz="1100" b="1" i="0">
                <a:solidFill>
                  <a:srgbClr val="16232E"/>
                </a:solidFill>
                <a:latin typeface="Calibri"/>
              </a:rPr>
              <a:t>Gate on patient category.</a:t>
            </a:r>
            <a:r>
              <a:rPr sz="1100" b="0" i="0">
                <a:solidFill>
                  <a:srgbClr val="5A6B78"/>
                </a:solidFill>
                <a:latin typeface="Calibri"/>
              </a:rPr>
              <a:t> NEWS2 is validated for acutely ill adults — not paediatric or obstetric patients, and the tool does not detect those cases.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F4C5C"/>
                </a:solidFill>
                <a:latin typeface="Calibri"/>
              </a:rPr>
              <a:t>—  </a:t>
            </a:r>
            <a:r>
              <a:rPr sz="1100" b="1" i="0">
                <a:solidFill>
                  <a:srgbClr val="16232E"/>
                </a:solidFill>
                <a:latin typeface="Calibri"/>
              </a:rPr>
              <a:t>Human-in-the-loop by default.</a:t>
            </a:r>
            <a:r>
              <a:rPr sz="1100" b="0" i="0">
                <a:solidFill>
                  <a:srgbClr val="5A6B78"/>
                </a:solidFill>
                <a:latin typeface="Calibri"/>
              </a:rPr>
              <a:t> Reviewed-and-accepted should be a recorded state with reviewer and timestamp, not an assumption.</a:t>
            </a:r>
          </a:p>
          <a:p>
            <a:pPr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F4C5C"/>
                </a:solidFill>
                <a:latin typeface="Calibri"/>
              </a:rPr>
              <a:t>—  </a:t>
            </a:r>
            <a:r>
              <a:rPr sz="1100" b="1" i="0">
                <a:solidFill>
                  <a:srgbClr val="16232E"/>
                </a:solidFill>
                <a:latin typeface="Calibri"/>
              </a:rPr>
              <a:t>Structured interoperability.</a:t>
            </a:r>
            <a:r>
              <a:rPr sz="1100" b="0" i="0">
                <a:solidFill>
                  <a:srgbClr val="5A6B78"/>
                </a:solidFill>
                <a:latin typeface="Calibri"/>
              </a:rPr>
              <a:t> Emit FHIR resources rather than bespoke JSON, so output can re-enter the record it came from.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327648"/>
            <a:ext cx="11057839" cy="9525"/>
          </a:xfrm>
          <a:prstGeom prst="rect">
            <a:avLst/>
          </a:prstGeom>
          <a:solidFill>
            <a:srgbClr val="C9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41908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F4C5C"/>
                </a:solidFill>
                <a:latin typeface="Calibri"/>
              </a:rPr>
              <a:t>Repository   </a:t>
            </a:r>
            <a:r>
              <a:rPr sz="1050" b="1" i="0">
                <a:solidFill>
                  <a:srgbClr val="16232E"/>
                </a:solidFill>
                <a:latin typeface="Consolas"/>
              </a:rPr>
              <a:t>github.com/anushkavb4/clinical-document-intelligence-hub</a:t>
            </a:r>
            <a:r>
              <a:rPr sz="950" b="0" i="0">
                <a:solidFill>
                  <a:srgbClr val="5A6B78"/>
                </a:solidFill>
                <a:latin typeface="Calibri"/>
              </a:rPr>
              <a:t>      README.md — setup and worked example   ·   FINDINGS.md — measured findings   ·   Synthetic data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