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PROBLEM UNDERSTANDING AND OBJECTIVE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Clinical Document Intelligence Hub  ·  2-day prototype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5943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50" b="1" i="0">
                <a:solidFill>
                  <a:srgbClr val="16232E"/>
                </a:solidFill>
                <a:latin typeface="Calibri"/>
              </a:rPr>
              <a:t>Clinical and administrative staff read the same documents twice.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5A6B78"/>
                </a:solidFill>
                <a:latin typeface="Calibri"/>
              </a:rPr>
              <a:t>Intake forms, discharge summaries, lab reports and physician notes arrive as text, PDF, scans and faxes. Someone reads each one for the same handful of facts, then re-keys them elsewhere. Slow, inconsistent between readers, and the errors it produces are silent.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The hard part is not reading the document. 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It is whether a clinician can </a:t>
            </a:r>
            <a:r>
              <a:rPr sz="1350" b="1" i="1">
                <a:solidFill>
                  <a:srgbClr val="16232E"/>
                </a:solidFill>
                <a:latin typeface="Calibri"/>
              </a:rPr>
              <a:t>check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 what was read — quickly, per field, without re-reading the chart.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600200"/>
            <a:ext cx="4800600" cy="2194560"/>
          </a:xfrm>
          <a:prstGeom prst="roundRect">
            <a:avLst>
              <a:gd name="adj" fmla="val 4500"/>
            </a:avLst>
          </a:prstGeom>
          <a:solidFill>
            <a:srgbClr val="E3EEF0"/>
          </a:solidFill>
          <a:ln w="9525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783080"/>
            <a:ext cx="4251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OBJECTIVE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6232E"/>
                </a:solidFill>
                <a:latin typeface="Calibri"/>
              </a:rPr>
              <a:t>Ingest one unstructured clinical document and return a decision-ready patient summary card: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4C5C"/>
                </a:solidFill>
                <a:latin typeface="Calibri"/>
              </a:rPr>
              <a:t>—   </a:t>
            </a:r>
            <a:r>
              <a:rPr sz="1250" b="0" i="0">
                <a:solidFill>
                  <a:srgbClr val="16232E"/>
                </a:solidFill>
                <a:latin typeface="Calibri"/>
              </a:rPr>
              <a:t>structured fields, each with a confidence and its source quote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4C5C"/>
                </a:solidFill>
                <a:latin typeface="Calibri"/>
              </a:rPr>
              <a:t>—   </a:t>
            </a:r>
            <a:r>
              <a:rPr sz="1250" b="0" i="0">
                <a:solidFill>
                  <a:srgbClr val="16232E"/>
                </a:solidFill>
                <a:latin typeface="Calibri"/>
              </a:rPr>
              <a:t>a risk flag a clinician can defend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4C5C"/>
                </a:solidFill>
                <a:latin typeface="Calibri"/>
              </a:rPr>
              <a:t>—   </a:t>
            </a:r>
            <a:r>
              <a:rPr sz="1250" b="0" i="0">
                <a:solidFill>
                  <a:srgbClr val="16232E"/>
                </a:solidFill>
                <a:latin typeface="Calibri"/>
              </a:rPr>
              <a:t>concrete recommended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977639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THREE CONSTRAINTS THAT SHAPED EVERY DECISION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251959"/>
            <a:ext cx="3593592" cy="18105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251959"/>
            <a:ext cx="50292" cy="1810512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434839"/>
            <a:ext cx="3136392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6232E"/>
                </a:solidFill>
                <a:latin typeface="Calibri"/>
              </a:rPr>
              <a:t>Absent data must stay absent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Silent imputation is the failure mode that actually hurts someone. Missing fields become the literal string “not documented”; if three or more NEWS2 parameters are missing the band is INDETERMINATE, not a score built on partial vitals.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9684" y="4251959"/>
            <a:ext cx="3593592" cy="18105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9684" y="4251959"/>
            <a:ext cx="50292" cy="1810512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7428" y="4434839"/>
            <a:ext cx="3136392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6232E"/>
                </a:solidFill>
                <a:latin typeface="Calibri"/>
              </a:rPr>
              <a:t>The risk score must not be generated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A prose rationale from a model cannot be tested, audited, or held still while a prompt is edited. NEWS2 is ordinary Python, covered by 18 tests.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4251959"/>
            <a:ext cx="3593592" cy="18105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4251959"/>
            <a:ext cx="50292" cy="1810512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4" y="4434839"/>
            <a:ext cx="3136392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6232E"/>
                </a:solidFill>
                <a:latin typeface="Calibri"/>
              </a:rPr>
              <a:t>Every value must be traceable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Each field carries a verbatim source quote, expandable in the UI. Verifying a dose should take a click, not a re-read.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Synthetic data only — no real PHI.  Decision support, not a medical device.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SOLUTION ARCHITECTURE AND DESIGN FLOW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One model call, one schema, one deterministic scorer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A6B78"/>
                </a:solidFill>
                <a:latin typeface="Calibri"/>
              </a:rPr>
              <a:t>INPUT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Text · PDF
Image · Scan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single document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52343" y="2258568"/>
            <a:ext cx="182880" cy="237744"/>
          </a:xfrm>
          <a:prstGeom prst="rightArrow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35807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1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INGEST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bytes + MIME type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src/ingest.py
no OCR stage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1222" y="2258568"/>
            <a:ext cx="182880" cy="237744"/>
          </a:xfrm>
          <a:prstGeom prst="rightArrow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04686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E3EEF0"/>
          </a:solidFill>
          <a:ln w="19050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50990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EXTRACT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Gemini 3.6 Flash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one call
schema-enforced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90101" y="2258568"/>
            <a:ext cx="182880" cy="237744"/>
          </a:xfrm>
          <a:prstGeom prst="rightArrow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73565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9869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VALIDATE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ClinicalExtraction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Pydantic
typed or rejected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4015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A6B78"/>
                </a:solidFill>
                <a:latin typeface="Calibri"/>
              </a:rPr>
              <a:t>the typed record forks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30752"/>
            <a:ext cx="5394960" cy="14813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B33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895344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B33A30"/>
                </a:solidFill>
                <a:latin typeface="Calibri"/>
              </a:rPr>
              <a:t>DETERMINISTIC  </a:t>
            </a:r>
            <a:r>
              <a:rPr sz="1000" b="0" i="0">
                <a:solidFill>
                  <a:srgbClr val="5A6B78"/>
                </a:solidFill>
                <a:latin typeface="Consolas"/>
              </a:rPr>
              <a:t>src/triage.py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6232E"/>
                </a:solidFill>
                <a:latin typeface="Calibri"/>
              </a:rPr>
              <a:t>NEWS2 risk score — plain Python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Royal College of Physicians scoring, computed from the extracted vitals. Every point is attributable to a reading. 18 tests pin the bands. The model never sees this step.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730752"/>
            <a:ext cx="5394960" cy="14813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3895344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GENERATIVE  </a:t>
            </a:r>
            <a:r>
              <a:rPr sz="1000" b="0" i="0">
                <a:solidFill>
                  <a:srgbClr val="5A6B78"/>
                </a:solidFill>
                <a:latin typeface="Consolas"/>
              </a:rPr>
              <a:t>summary · reasoning · next steps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6232E"/>
                </a:solidFill>
                <a:latin typeface="Calibri"/>
              </a:rPr>
              <a:t>Narrative, grounded in quotes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Prose a clinician reads in under 20 seconds, plus recommended actions ordered most urgent first and an explicit list of what is missing from the document.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64240" cy="658368"/>
          </a:xfrm>
          <a:prstGeom prst="roundRect">
            <a:avLst>
              <a:gd name="adj" fmla="val 4500"/>
            </a:avLst>
          </a:prstGeom>
          <a:solidFill>
            <a:srgbClr val="16232E"/>
          </a:solidFill>
          <a:ln w="9525">
            <a:solidFill>
              <a:srgbClr val="1623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522976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model extracts; Python decides.  </a:t>
            </a:r>
            <a:r>
              <a:rPr sz="1250" b="0" i="0">
                <a:solidFill>
                  <a:srgbClr val="A9BDC7"/>
                </a:solidFill>
                <a:latin typeface="Calibri"/>
              </a:rPr>
              <a:t>The risk band cannot drift when a prompt is edited, a clinician can be shown which reading contributed which point, and the whole scoring layer is testable without an API key.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Streamlit renders the summary card, extracted-detail tables, NEWS2 breakdown, source text and a JSON export.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IMPLEMENTATION HIGHLIGHTS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Four decisions, and the numbers they produced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36192"/>
            <a:ext cx="5532120" cy="2523744"/>
          </a:xfrm>
          <a:prstGeom prst="roundRect">
            <a:avLst>
              <a:gd name="adj" fmla="val 4500"/>
            </a:avLst>
          </a:prstGeom>
          <a:solidFill>
            <a:srgbClr val="1B2B36"/>
          </a:solidFill>
          <a:ln w="9525">
            <a:solidFill>
              <a:srgbClr val="1B2B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8"/>
            <a:ext cx="51297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7F9DA8"/>
                </a:solidFill>
                <a:latin typeface="Calibri"/>
              </a:rPr>
              <a:t>ONE CALL — THE API ENFORCES THE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20240"/>
            <a:ext cx="5129784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interaction = client.interactions.create(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model=model,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system_instruction=SYSTEM_PROMPT,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input=_input_blocks(document),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response_format={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B8E0A0"/>
                </a:solidFill>
                <a:latin typeface="Consolas"/>
              </a:rPr>
              <a:t>        "type": "text",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B8E0A0"/>
                </a:solidFill>
                <a:latin typeface="Consolas"/>
              </a:rPr>
              <a:t>        "mime_type": "application/json",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B8E0A0"/>
                </a:solidFill>
                <a:latin typeface="Consolas"/>
              </a:rPr>
              <a:t>        "schema": response_schema(),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},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    store=False,   # no clinical text retained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169663"/>
            <a:ext cx="55321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No JSON parsing, no repair loop, no prose-to-struct step that can drift. The response is constrained on the way out and re-validated by Pydantic on the way in — a malformed record raises rather than reaching the UI.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36192"/>
            <a:ext cx="5276088" cy="2523744"/>
          </a:xfrm>
          <a:prstGeom prst="roundRect">
            <a:avLst>
              <a:gd name="adj" fmla="val 4500"/>
            </a:avLst>
          </a:prstGeom>
          <a:solidFill>
            <a:srgbClr val="1B2B36"/>
          </a:solidFill>
          <a:ln w="9525">
            <a:solidFill>
              <a:srgbClr val="1B2B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6248" y="1664208"/>
            <a:ext cx="48737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7F9DA8"/>
                </a:solidFill>
                <a:latin typeface="Calibri"/>
              </a:rPr>
              <a:t>THE PROVIDER GOTCHA WORTH KNOWING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1920240"/>
            <a:ext cx="4873752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# Pydantic hoists nested models into $defs and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# points at them with $ref. Gemini documents no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# support for either keyword.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F2C97D"/>
                </a:solidFill>
                <a:latin typeface="Consolas"/>
              </a:rPr>
              <a:t>def response_schema() -&gt; dict: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schema = ClinicalExtraction.model_json_schema()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defs = schema.pop("$defs", {})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return _inline_refs(schema, defs)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# Inlined before the request goes out, rather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# than relying on undocumented behaviour.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4169663"/>
            <a:ext cx="527608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Found by reading the SDK's own request types rather than trusting the docs page — which also revealed the API accepts TIFF, the format scanned clinical faxes actually arrive 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88289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MEASURED ON THE FIVE BUNDLED SAMPLES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F4C5C"/>
                </a:solidFill>
                <a:latin typeface="Calibri"/>
              </a:rPr>
              <a:t>85 / 85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source quotes traced
back to the document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20924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5516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B5E20"/>
                </a:solidFill>
                <a:latin typeface="Calibri"/>
              </a:rPr>
              <a:t>0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quotes containing
fabricated content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4920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9512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F4C5C"/>
                </a:solidFill>
                <a:latin typeface="Calibri"/>
              </a:rPr>
              <a:t>31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tests — scoring and
failure handling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916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3508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5A6B78"/>
                </a:solidFill>
                <a:latin typeface="Calibri"/>
              </a:rPr>
              <a:t>~29 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per document,
end to 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82912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47504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5A6B78"/>
                </a:solidFill>
                <a:latin typeface="Calibri"/>
              </a:rPr>
              <a:t>$0.00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free tier —
reproducible by anyone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Model: gemini-3.6-flash  ·  extract.py is the only module aware of the provider.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CHALLENGES AND LEARNINGS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The confidence score was decoration — measuring it is what proved that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3619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A6B78"/>
                </a:solidFill>
                <a:latin typeface="Calibri"/>
              </a:rPr>
              <a:t>The prototype reported </a:t>
            </a:r>
            <a:r>
              <a:rPr sz="1350" b="1" i="0">
                <a:solidFill>
                  <a:srgbClr val="16232E"/>
                </a:solidFill>
                <a:latin typeface="Consolas"/>
              </a:rPr>
              <a:t>high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 confidence on almost every field. That looks like success until you ask whether the signal </a:t>
            </a:r>
            <a:r>
              <a:rPr sz="1350" b="1" i="1">
                <a:solidFill>
                  <a:srgbClr val="16232E"/>
                </a:solidFill>
                <a:latin typeface="Calibri"/>
              </a:rPr>
              <a:t>moves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. So I rendered the same ED triage note at three degradation levels and compared confidence against ground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1284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33A30"/>
                </a:solidFill>
                <a:latin typeface="Calibri"/>
              </a:rPr>
              <a:t>BEFORE  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confidence is flat while accuracy collapses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487168"/>
          <a:ext cx="5394959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417320"/>
                <a:gridCol w="187451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Degradation</a:t>
                      </a:r>
                    </a:p>
                  </a:txBody>
                  <a:tcPr marL="82296" marR="82296" anchor="ctr">
                    <a:solidFill>
                      <a:srgbClr val="B33A3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Vitals right</a:t>
                      </a:r>
                    </a:p>
                  </a:txBody>
                  <a:tcPr marL="82296" marR="82296" anchor="ctr">
                    <a:solidFill>
                      <a:srgbClr val="B33A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marL="82296" marR="82296" anchor="ctr">
                    <a:solidFill>
                      <a:srgbClr val="B33A3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As shipped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6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21 high, 1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Degraded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5 / 6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23 high, 0 med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Severe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3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20 high, 0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36208" y="221284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5E20"/>
                </a:solidFill>
                <a:latin typeface="Calibri"/>
              </a:rPr>
              <a:t>AFTER  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the signal tracks legibility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36208" y="2487168"/>
          <a:ext cx="5394959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417320"/>
                <a:gridCol w="187451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Degradation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Vitals right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As shipped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6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8 high, 16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Degraded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4 / 6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6 high, 18 med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Severe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1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5E20"/>
                          </a:solidFill>
                          <a:latin typeface="Calibri"/>
                        </a:rPr>
                        <a:t>0 high, 17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3913632"/>
            <a:ext cx="11064240" cy="1024128"/>
          </a:xfrm>
          <a:prstGeom prst="roundRect">
            <a:avLst>
              <a:gd name="adj" fmla="val 4500"/>
            </a:avLst>
          </a:prstGeom>
          <a:solidFill>
            <a:srgbClr val="FAE8E6"/>
          </a:solidFill>
          <a:ln w="9525">
            <a:solidFill>
              <a:srgbClr val="B33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78224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232E"/>
                </a:solidFill>
                <a:latin typeface="Calibri"/>
              </a:rPr>
              <a:t>At severe degradation the model read temperature as 37.9 °C instead of 38.9, and heart rate as 118 instead of 124 — and labelled both </a:t>
            </a:r>
            <a:r>
              <a:rPr sz="1300" b="1" i="0">
                <a:solidFill>
                  <a:srgbClr val="B33A30"/>
                </a:solidFill>
                <a:latin typeface="Consolas"/>
              </a:rPr>
              <a:t>high</a:t>
            </a:r>
            <a:r>
              <a:rPr sz="1300" b="0" i="0">
                <a:solidFill>
                  <a:srgbClr val="16232E"/>
                </a:solidFill>
                <a:latin typeface="Calibri"/>
              </a:rPr>
              <a:t> confidence.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A6B78"/>
                </a:solidFill>
                <a:latin typeface="Calibri"/>
              </a:rPr>
              <a:t>The fix was conceptual, not mechanical: confidence had been written as a statement of </a:t>
            </a:r>
            <a:r>
              <a:rPr sz="1250" b="1" i="0">
                <a:solidFill>
                  <a:srgbClr val="16232E"/>
                </a:solidFill>
                <a:latin typeface="Calibri"/>
              </a:rPr>
              <a:t>belief</a:t>
            </a:r>
            <a:r>
              <a:rPr sz="1250" b="0" i="0">
                <a:solidFill>
                  <a:srgbClr val="5A6B78"/>
                </a:solidFill>
                <a:latin typeface="Calibri"/>
              </a:rPr>
              <a:t>. It is now a statement about the </a:t>
            </a:r>
            <a:r>
              <a:rPr sz="1250" b="1" i="0">
                <a:solidFill>
                  <a:srgbClr val="16232E"/>
                </a:solidFill>
                <a:latin typeface="Calibri"/>
              </a:rPr>
              <a:t>source</a:t>
            </a:r>
            <a:r>
              <a:rPr sz="1250" b="0" i="0">
                <a:solidFill>
                  <a:srgbClr val="5A6B78"/>
                </a:solidFill>
                <a:latin typeface="Calibri"/>
              </a:rPr>
              <a:t> — any digit that could be a different digit under this much blur is </a:t>
            </a:r>
            <a:r>
              <a:rPr sz="1250" b="1" i="0">
                <a:solidFill>
                  <a:srgbClr val="16232E"/>
                </a:solidFill>
                <a:latin typeface="Consolas"/>
              </a:rPr>
              <a:t>medium</a:t>
            </a:r>
            <a:r>
              <a:rPr sz="1250" b="0" i="0">
                <a:solidFill>
                  <a:srgbClr val="5A6B78"/>
                </a:solidFill>
                <a:latin typeface="Calibri"/>
              </a:rPr>
              <a:t>, however sure the model feels. Clean digital text is unaffected: 105 high / 0 medium.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1023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ALSO LEARNED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394960"/>
            <a:ext cx="3593592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504688"/>
            <a:ext cx="3227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232E"/>
                </a:solidFill>
                <a:latin typeface="Calibri"/>
              </a:rPr>
              <a:t>The cheap model was a trap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flash-lite: 4x faster, same NEWS2, but it fabricated 3 of 65 source quotes — one carried the reference range from the row above. Rejected.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9684" y="5394960"/>
            <a:ext cx="3593592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2564" y="5504688"/>
            <a:ext cx="3227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232E"/>
                </a:solidFill>
                <a:latin typeface="Calibri"/>
              </a:rPr>
              <a:t>A green tick is a claim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Uniform high confidence tells a clinician there is nothing to check. That is worse than showing no confidence at 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5394960"/>
            <a:ext cx="3593592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5504688"/>
            <a:ext cx="3227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232E"/>
                </a:solidFill>
                <a:latin typeface="Calibri"/>
              </a:rPr>
              <a:t>Read the SDK, not the docs page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$ref support and the real accepted MIME types were both only discoverable in the SDK's request types.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Degradation levels generated reproducibly (fixed seed) by scripts/make_scanned_sample.py.  ·  The after-fix ladder reproduced exactly (8 → 6 → 0 high) on a second independent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DEMO SUMMARY AND NEXT STEPS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Five synthetic documents, two modalities, one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END-TO-END RESULTS AGAINST THE LIVE API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92224"/>
          <a:ext cx="11064240" cy="18379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892040"/>
                <a:gridCol w="914400"/>
                <a:gridCol w="2103120"/>
                <a:gridCol w="914400"/>
                <a:gridCol w="2240280"/>
              </a:tblGrid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Classified as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NEWS2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ED triage note — suspected urosepsis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triage_note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same note, printed → photocopied → faxed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triage_note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Discharge summary — resolved sepsis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discharge_summary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5E20"/>
                          </a:solidFill>
                          <a:latin typeface="Calibri"/>
                        </a:rPr>
                        <a:t>ROUTINE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New-patient intake form — headaches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intake_form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5E20"/>
                          </a:solidFill>
                          <a:latin typeface="Calibri"/>
                        </a:rPr>
                        <a:t>ROUTINE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Lab report — potassium 6.8, no vitals recorded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lab_report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4C5C"/>
                          </a:solidFill>
                          <a:latin typeface="Calibri"/>
                        </a:rPr>
                        <a:t>INDETERMINATE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3712463"/>
            <a:ext cx="5394960" cy="713232"/>
          </a:xfrm>
          <a:prstGeom prst="roundRect">
            <a:avLst>
              <a:gd name="adj" fmla="val 4500"/>
            </a:avLst>
          </a:prstGeom>
          <a:solidFill>
            <a:srgbClr val="E3EEF0"/>
          </a:solidFill>
          <a:ln w="9525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3822191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A degraded fax produced the identical decision — </a:t>
            </a:r>
            <a:r>
              <a:rPr sz="1150" b="1" i="0">
                <a:solidFill>
                  <a:srgbClr val="16232E"/>
                </a:solidFill>
                <a:latin typeface="Calibri"/>
              </a:rPr>
              <a:t>NEWS2 17, HIGH, all 7 parameters, all 7 labs, the same 5 flags.</a:t>
            </a:r>
            <a:r>
              <a:rPr sz="1150" b="0" i="0">
                <a:solidFill>
                  <a:srgbClr val="5A6B78"/>
                </a:solidFill>
                <a:latin typeface="Calibri"/>
              </a:rPr>
              <a:t> No OCR stage.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3712463"/>
            <a:ext cx="5394960" cy="7132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3822191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The lab report has no vitals, so it is </a:t>
            </a:r>
            <a:r>
              <a:rPr sz="1150" b="1" i="0">
                <a:solidFill>
                  <a:srgbClr val="16232E"/>
                </a:solidFill>
                <a:latin typeface="Calibri"/>
              </a:rPr>
              <a:t>not scored</a:t>
            </a:r>
            <a:r>
              <a:rPr sz="1150" b="0" i="0">
                <a:solidFill>
                  <a:srgbClr val="5A6B78"/>
                </a:solidFill>
                <a:latin typeface="Calibri"/>
              </a:rPr>
              <a:t>. A NEWS2 of 0 would read as “patient is fine” when nobody took observations — the critical potassium still surfaces.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517136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GIVEN MORE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791456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Close the audit trail.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One run produced a vitals quote that skipped a line while reading as continuous. Mark elisions; give each vital its own quote.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Compare across documents.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The brief's one optional enhancement still unbuilt: a discharge summary and a later lab report for the same patient should diff.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Pin the non-determinism.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Values are stable across runs; formatting is not (BD vs twice daily). Normalise in the schema.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517136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TO TAKE THIS BEYOND A PROTOTYPE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791456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Gate on patient category.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NEWS2 is validated for acutely ill adults — not paediatric or obstetric patients, and the tool does not detect those cases.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Human-in-the-loop by default.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Reviewed-and-accepted should be a recorded state with reviewer and timestamp, not an assumption.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Structured interoperability.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Emit FHIR resources rather than bespoke JSON, so output can re-enter the record it came from.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276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41908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Repository   </a:t>
            </a:r>
            <a:r>
              <a:rPr sz="1050" b="1" i="0">
                <a:solidFill>
                  <a:srgbClr val="16232E"/>
                </a:solidFill>
                <a:latin typeface="Consolas"/>
              </a:rPr>
              <a:t>github.com/anushkavb4/clinical-document-intelligence-hub</a:t>
            </a:r>
            <a:r>
              <a:rPr sz="950" b="0" i="0">
                <a:solidFill>
                  <a:srgbClr val="5A6B78"/>
                </a:solidFill>
                <a:latin typeface="Calibri"/>
              </a:rPr>
              <a:t>      README.md — setup and worked example   ·   FINDINGS.md — measured findings   ·   Synthetic data only.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